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 Slab"/>
      <p:regular r:id="rId201314"/>
    </p:embeddedFont>
    <p:embeddedFont>
      <p:font typeface="Roboto Slab Bold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21272"/>
            <a:ext cx="919735" cy="355203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79" y="2023269"/>
            <a:ext cx="151206" cy="1512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687" y="1977926"/>
            <a:ext cx="107570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1675664" y="1914922"/>
            <a:ext cx="1339717" cy="367903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5418" y="2023269"/>
            <a:ext cx="151206" cy="1512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2226" y="1977926"/>
            <a:ext cx="148298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61475" y="23584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Organic Ghee Enterprise Azure Cloud Architecture</a:t>
            </a:r>
            <a:endParaRPr lang="en-US" sz="3700" dirty="0"/>
          </a:p>
        </p:txBody>
      </p:sp>
      <p:sp>
        <p:nvSpPr>
          <p:cNvPr id="10" name="Text 5"/>
          <p:cNvSpPr/>
          <p:nvPr/>
        </p:nvSpPr>
        <p:spPr>
          <a:xfrm>
            <a:off x="661475" y="3823196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Production-Grade Secure Food Ordering Platform — Built with Terraform Infrastructure as Code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Senior Cloud &amp; Terraform Architect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142" y="428427"/>
            <a:ext cx="8151410" cy="79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Terraform? The Case Against Manual Deployments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020142" y="2959398"/>
            <a:ext cx="3920134" cy="512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Azure provisioning introduces risk, inconsistency, and operational debt. Terraform eliminates these challenges through declarative, version-controlled infrastructure.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7768" y="1451769"/>
            <a:ext cx="3528031" cy="3528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093" y="5173563"/>
            <a:ext cx="1992263" cy="12560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23833" y="5320109"/>
            <a:ext cx="1594802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Configuration Drift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2223833" y="5570934"/>
            <a:ext cx="1622980" cy="34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Environments diverge without code enforcement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0426" y="5173563"/>
            <a:ext cx="1992362" cy="12560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83166" y="5320109"/>
            <a:ext cx="1594802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Version Control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283166" y="5570934"/>
            <a:ext cx="1623079" cy="34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untracked, unreviewable, unrecoverable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19858" y="5173563"/>
            <a:ext cx="1992263" cy="12560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2598" y="5320109"/>
            <a:ext cx="1594802" cy="1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Human Error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342598" y="5570934"/>
            <a:ext cx="1622980" cy="34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clicks create unpredictable outcomes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9191" y="5173563"/>
            <a:ext cx="1992362" cy="125601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01931" y="5320109"/>
            <a:ext cx="1623079" cy="398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Scaling &amp; Compliance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8401931" y="5770166"/>
            <a:ext cx="1623079" cy="512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processes fail at enterprise scale and audit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27174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329630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Organic Ghee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full-featured restaurant food ordering platform deployed on Azure with Terraform-managed infrastructure — designed for security, scalability, and production readiness.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233360" y="1846064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5375041" y="1987748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Ordering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75041" y="2272903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Secure, intuitive ordering experience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33360" y="2719288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5375041" y="2860973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Portal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375041" y="3146127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Menu management &amp; contact requests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33360" y="3592513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5375041" y="3734197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75041" y="4019352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order &amp; system alerts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33360" y="4465737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</p:sp>
      <p:sp>
        <p:nvSpPr>
          <p:cNvPr id="15" name="Text 12"/>
          <p:cNvSpPr/>
          <p:nvPr/>
        </p:nvSpPr>
        <p:spPr>
          <a:xfrm>
            <a:off x="5375041" y="4607421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Auth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375041" y="4892576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 ID authentication &amp; RBAC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33360" y="5352256"/>
            <a:ext cx="6296860" cy="659011"/>
          </a:xfrm>
          <a:prstGeom prst="roundRect">
            <a:avLst>
              <a:gd name="adj" fmla="val 3227"/>
            </a:avLst>
          </a:prstGeom>
          <a:solidFill>
            <a:srgbClr val="02234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041" y="5545038"/>
            <a:ext cx="177200" cy="1416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93922" y="5483324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Objectives: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Secure Architecture · Infrastructure as Code · Automated Deployments · High Availability · Scalability · Production Readiness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5596" y="438249"/>
            <a:ext cx="5752658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Solution Architecture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596" y="1267520"/>
            <a:ext cx="4309359" cy="4309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2783880"/>
            <a:ext cx="256613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Traffic Flow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3089" y="3158034"/>
            <a:ext cx="4309359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public traffic enters through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Front Door + WAF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filters threats before reaching the App Service. Backend communication between services uses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endpoints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public exposure of data stores.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4233" y="5873304"/>
            <a:ext cx="234746" cy="234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4179" y="5868491"/>
            <a:ext cx="195654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Public Zone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104179" y="6190754"/>
            <a:ext cx="238357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 Door, WAF, App Service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8407" y="5873304"/>
            <a:ext cx="234746" cy="2347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58353" y="5868491"/>
            <a:ext cx="195654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Private Zone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5158353" y="6190754"/>
            <a:ext cx="238357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Storage, Functions, Cosmos DB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2582" y="5873304"/>
            <a:ext cx="234746" cy="234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12527" y="5868491"/>
            <a:ext cx="195654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Identity Layer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8212527" y="6190754"/>
            <a:ext cx="238357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 ID, Managed Identity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17959"/>
            <a:ext cx="5346368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Microsoft Azure Services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1593056"/>
            <a:ext cx="321262" cy="321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2084983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Microsoft Entra ID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574" y="241786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Authentication, RBAC, and OIDC integration for secure access control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307" y="1593056"/>
            <a:ext cx="321262" cy="3212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1307" y="2084983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App Service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341307" y="241786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application hosting with built-in scaling and runtime management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1040" y="1593056"/>
            <a:ext cx="321262" cy="3212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21040" y="2084983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Key Vault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021040" y="241786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secrets, certificate, and key management — zero secrets in code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574" y="3166368"/>
            <a:ext cx="321262" cy="3212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574" y="3658295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Storage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61574" y="399117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Blob Storage for assets, Queue Storage for async messaging between services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1307" y="3166368"/>
            <a:ext cx="321262" cy="3212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41307" y="3658295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Functions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4341307" y="399117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Event-driven serverless processing triggered by Storage Queue messages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21040" y="3166368"/>
            <a:ext cx="321262" cy="3212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21040" y="3658295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Cosmos DB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8021040" y="399117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 API database with global distribution and low-latency reads</a:t>
            </a:r>
            <a:endParaRPr lang="en-US" sz="12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574" y="4739680"/>
            <a:ext cx="321262" cy="32127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574" y="5231606"/>
            <a:ext cx="228346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Front Door + WAF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61574" y="5564485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entry point with DDoS protection and web application firewall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33921"/>
            <a:ext cx="550501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Terraform Project Structure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574" y="1508720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Folder Layout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574" y="1880989"/>
            <a:ext cx="5249830" cy="3785394"/>
          </a:xfrm>
          <a:prstGeom prst="roundRect">
            <a:avLst>
              <a:gd name="adj" fmla="val 599"/>
            </a:avLst>
          </a:prstGeom>
          <a:solidFill>
            <a:srgbClr val="2D3440"/>
          </a:solidFill>
          <a:ln/>
        </p:spPr>
      </p:sp>
      <p:sp>
        <p:nvSpPr>
          <p:cNvPr id="5" name="Shape 3"/>
          <p:cNvSpPr/>
          <p:nvPr/>
        </p:nvSpPr>
        <p:spPr>
          <a:xfrm>
            <a:off x="654034" y="1880989"/>
            <a:ext cx="5264911" cy="3785394"/>
          </a:xfrm>
          <a:prstGeom prst="roundRect">
            <a:avLst>
              <a:gd name="adj" fmla="val 599"/>
            </a:avLst>
          </a:prstGeom>
          <a:solidFill>
            <a:srgbClr val="2D3440"/>
          </a:solidFill>
          <a:ln/>
        </p:spPr>
      </p:sp>
      <p:sp>
        <p:nvSpPr>
          <p:cNvPr id="6" name="Text 4"/>
          <p:cNvSpPr/>
          <p:nvPr/>
        </p:nvSpPr>
        <p:spPr>
          <a:xfrm>
            <a:off x="843041" y="2032198"/>
            <a:ext cx="4886897" cy="348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resource-group/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app-service/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storage/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key-vault/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cosmos/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function/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front-door/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environments/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dev/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prod/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backend.tf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outputs.tf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6640" y="1508720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 Benefits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86640" y="1880989"/>
            <a:ext cx="2564443" cy="1669554"/>
          </a:xfrm>
          <a:prstGeom prst="roundRect">
            <a:avLst>
              <a:gd name="adj" fmla="val 1359"/>
            </a:avLst>
          </a:prstGeom>
          <a:solidFill>
            <a:srgbClr val="3F465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846" y="2032198"/>
            <a:ext cx="453617" cy="45362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561" y="2156916"/>
            <a:ext cx="204088" cy="2040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37846" y="2606774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Reusability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37846" y="2963962"/>
            <a:ext cx="22620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Modules shared across dev, staging, and prod environments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972028" y="1880989"/>
            <a:ext cx="2564443" cy="1669554"/>
          </a:xfrm>
          <a:prstGeom prst="roundRect">
            <a:avLst>
              <a:gd name="adj" fmla="val 1359"/>
            </a:avLst>
          </a:prstGeom>
          <a:solidFill>
            <a:srgbClr val="3F46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233" y="2032198"/>
            <a:ext cx="453617" cy="453628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7948" y="2156916"/>
            <a:ext cx="204088" cy="2040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23233" y="2606774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Maintainability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9123233" y="2963962"/>
            <a:ext cx="22620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module update propagates to all environments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286640" y="3671491"/>
            <a:ext cx="5249830" cy="1451868"/>
          </a:xfrm>
          <a:prstGeom prst="roundRect">
            <a:avLst>
              <a:gd name="adj" fmla="val 1562"/>
            </a:avLst>
          </a:prstGeom>
          <a:solidFill>
            <a:srgbClr val="3F465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846" y="3822700"/>
            <a:ext cx="453617" cy="453628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561" y="3947418"/>
            <a:ext cx="204088" cy="20409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37846" y="4397276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6437846" y="4754463"/>
            <a:ext cx="494741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new resources without rewriting existing infrastructure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286640" y="5259387"/>
            <a:ext cx="5249830" cy="728663"/>
          </a:xfrm>
          <a:prstGeom prst="roundRect">
            <a:avLst>
              <a:gd name="adj" fmla="val 3113"/>
            </a:avLst>
          </a:prstGeom>
          <a:solidFill>
            <a:srgbClr val="082545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7846" y="5474791"/>
            <a:ext cx="189007" cy="15120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778059" y="5406033"/>
            <a:ext cx="46072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module encapsulates a single Azure resource type with inputs, outputs, and best-practice defaults.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03" y="521295"/>
            <a:ext cx="470394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Terraform Concepts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5893" y="1163340"/>
            <a:ext cx="6239810" cy="2855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53736" y="3228150"/>
            <a:ext cx="1171471" cy="451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terraform apply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77360" y="3228150"/>
            <a:ext cx="1171472" cy="451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terraform plan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09008" y="3340987"/>
            <a:ext cx="1171472" cy="225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terraform init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08561" y="3340987"/>
            <a:ext cx="1171472" cy="225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Code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6503" y="4135041"/>
            <a:ext cx="10698689" cy="394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follows a predictable lifecycle: write declarative configuration, initialize the working directory, preview changes with 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apply them to Azure. State is tracked remotely with locking to prevent conflicts.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6503" y="4645422"/>
            <a:ext cx="3497572" cy="797322"/>
          </a:xfrm>
          <a:prstGeom prst="roundRect">
            <a:avLst>
              <a:gd name="adj" fmla="val 2625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051" y="4803973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Providers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05051" y="5083770"/>
            <a:ext cx="3180477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Plugins that interface with Azure APIs (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azurerm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7062" y="4645422"/>
            <a:ext cx="3497572" cy="797322"/>
          </a:xfrm>
          <a:prstGeom prst="roundRect">
            <a:avLst>
              <a:gd name="adj" fmla="val 2625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5609" y="4803973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05609" y="5083770"/>
            <a:ext cx="3180477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Reusable, parameterized resource bundles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47620" y="4645422"/>
            <a:ext cx="3497572" cy="797322"/>
          </a:xfrm>
          <a:prstGeom prst="roundRect">
            <a:avLst>
              <a:gd name="adj" fmla="val 2625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06168" y="4803973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Variables &amp; Outputs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106168" y="5083770"/>
            <a:ext cx="3180477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Parameterize and expose module values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6503" y="5545733"/>
            <a:ext cx="5297851" cy="790972"/>
          </a:xfrm>
          <a:prstGeom prst="roundRect">
            <a:avLst>
              <a:gd name="adj" fmla="val 2646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5051" y="5704284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Workspaces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05051" y="5984081"/>
            <a:ext cx="4980756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 state per environment (dev/prod)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47341" y="5545733"/>
            <a:ext cx="5297851" cy="790972"/>
          </a:xfrm>
          <a:prstGeom prst="roundRect">
            <a:avLst>
              <a:gd name="adj" fmla="val 2646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5888" y="5704284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Remote State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305888" y="5984081"/>
            <a:ext cx="4980756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stored in Azure Storage with locking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66217"/>
            <a:ext cx="508066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Terraform Production Features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74" y="2399109"/>
            <a:ext cx="4523667" cy="25634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27181" y="1759744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7973267" y="1782812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83368" y="1801912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Drift Detection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83368" y="2073672"/>
            <a:ext cx="3253004" cy="33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detects when Azure resources deviate from declared state — critical for compliance audits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27181" y="2563912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7973267" y="258698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83368" y="2606080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Taint &amp; Recreate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83368" y="2877840"/>
            <a:ext cx="3253004" cy="33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taint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marks corrupted resources for forced recreation on next apply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27181" y="3368080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3" name="Text 10"/>
          <p:cNvSpPr/>
          <p:nvPr/>
        </p:nvSpPr>
        <p:spPr>
          <a:xfrm>
            <a:off x="7973267" y="33911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83368" y="3410248"/>
            <a:ext cx="191606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 Existing Resources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83368" y="3682008"/>
            <a:ext cx="325300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 manually created Azure resources under Terraform management without disruption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927181" y="4165898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7" name="Text 14"/>
          <p:cNvSpPr/>
          <p:nvPr/>
        </p:nvSpPr>
        <p:spPr>
          <a:xfrm>
            <a:off x="7973267" y="4188966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283368" y="4208066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Dependency Graph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83368" y="4479826"/>
            <a:ext cx="325300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automatically resolves resource dependencies for correct provisioning order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27181" y="4963716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1" name="Text 18"/>
          <p:cNvSpPr/>
          <p:nvPr/>
        </p:nvSpPr>
        <p:spPr>
          <a:xfrm>
            <a:off x="7973267" y="4986784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283368" y="5005884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State Locking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83368" y="5277644"/>
            <a:ext cx="325300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concurrent modifications via Azure Storage lease — eliminates race conditions in CI/CD pipelines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95623"/>
            <a:ext cx="9074618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 Architecture — Zero Trust by Design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74" y="1556048"/>
            <a:ext cx="4452528" cy="4452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731268"/>
            <a:ext cx="34925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Zero Trust Principles Enforced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9100" y="2116832"/>
            <a:ext cx="2552835" cy="11388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96880" y="2135882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Secrets in Code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496880" y="2523430"/>
            <a:ext cx="233505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credentials stored in Key Vault, accessed via Managed Identity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3537" y="2116832"/>
            <a:ext cx="2552934" cy="11388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01317" y="2135882"/>
            <a:ext cx="211896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Least Privilege Access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201317" y="2523430"/>
            <a:ext cx="233515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RBAC scopes limited to minimum required permissions per service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9100" y="3490615"/>
            <a:ext cx="2552835" cy="11521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96880" y="3509665"/>
            <a:ext cx="233505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Private Network Isolation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496880" y="4148237"/>
            <a:ext cx="233505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Endpoints + Private DNS eliminate public data exposure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3537" y="3490615"/>
            <a:ext cx="2552934" cy="115212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01317" y="3509665"/>
            <a:ext cx="22029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Continuous Monitoring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9201317" y="3897213"/>
            <a:ext cx="233515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Monitor + WAF logs provide real-time threat visibility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98149" y="4777284"/>
            <a:ext cx="5238321" cy="1039019"/>
          </a:xfrm>
          <a:prstGeom prst="roundRect">
            <a:avLst>
              <a:gd name="adj" fmla="val 2319"/>
            </a:avLst>
          </a:prstGeom>
          <a:solidFill>
            <a:srgbClr val="183A1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8781" y="5008860"/>
            <a:ext cx="200814" cy="16063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0225" y="4940201"/>
            <a:ext cx="455561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Ready: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Architecture supports SOC 2, ISO 27001, and GDPR requirements through enforced policies and audit trails.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7773" y="443111"/>
            <a:ext cx="444419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Outcomes &amp; What's Next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47773" y="843260"/>
            <a:ext cx="6524263" cy="526653"/>
          </a:xfrm>
          <a:prstGeom prst="roundRect">
            <a:avLst>
              <a:gd name="adj" fmla="val 2898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649470" y="944959"/>
            <a:ext cx="151910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Infrastructure as Code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9470" y="1143099"/>
            <a:ext cx="6320870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Azure environment defined, versioned, and repeatable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7773" y="1424682"/>
            <a:ext cx="6524263" cy="526653"/>
          </a:xfrm>
          <a:prstGeom prst="roundRect">
            <a:avLst>
              <a:gd name="adj" fmla="val 2898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649470" y="1526381"/>
            <a:ext cx="1659094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Environment Separation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470" y="1724521"/>
            <a:ext cx="6320870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Isolated Dev &amp; Prod workspaces with remote state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7773" y="2006104"/>
            <a:ext cx="6524263" cy="526653"/>
          </a:xfrm>
          <a:prstGeom prst="roundRect">
            <a:avLst>
              <a:gd name="adj" fmla="val 2898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649470" y="2107803"/>
            <a:ext cx="1271754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Secure by Default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9470" y="2305943"/>
            <a:ext cx="6320870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secrets in code, Managed Identity, Private Endpoints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7773" y="2587526"/>
            <a:ext cx="6524263" cy="526653"/>
          </a:xfrm>
          <a:prstGeom prst="roundRect">
            <a:avLst>
              <a:gd name="adj" fmla="val 2898"/>
            </a:avLst>
          </a:prstGeom>
          <a:solidFill>
            <a:srgbClr val="3F4652"/>
          </a:solidFill>
          <a:ln/>
        </p:spPr>
      </p:sp>
      <p:sp>
        <p:nvSpPr>
          <p:cNvPr id="14" name="Text 11"/>
          <p:cNvSpPr/>
          <p:nvPr/>
        </p:nvSpPr>
        <p:spPr>
          <a:xfrm>
            <a:off x="649470" y="2689225"/>
            <a:ext cx="1271754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Production-Ready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9470" y="2887365"/>
            <a:ext cx="6320870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Drift detection, state locking, WAF, and monitoring enabled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7773" y="3196332"/>
            <a:ext cx="194463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7773" y="3437434"/>
            <a:ext cx="406886" cy="610394"/>
          </a:xfrm>
          <a:prstGeom prst="roundRect">
            <a:avLst>
              <a:gd name="adj" fmla="val 360084"/>
            </a:avLst>
          </a:prstGeom>
          <a:solidFill>
            <a:srgbClr val="3F465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869" y="3666331"/>
            <a:ext cx="152595" cy="1525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9426" y="3539133"/>
            <a:ext cx="154519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Multi-Region Deployment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7773" y="4102596"/>
            <a:ext cx="406886" cy="610394"/>
          </a:xfrm>
          <a:prstGeom prst="roundRect">
            <a:avLst>
              <a:gd name="adj" fmla="val 360084"/>
            </a:avLst>
          </a:prstGeom>
          <a:solidFill>
            <a:srgbClr val="3F465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869" y="4331494"/>
            <a:ext cx="152595" cy="15259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9426" y="4204295"/>
            <a:ext cx="127175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 Automation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7773" y="4767759"/>
            <a:ext cx="406886" cy="610394"/>
          </a:xfrm>
          <a:prstGeom prst="roundRect">
            <a:avLst>
              <a:gd name="adj" fmla="val 360084"/>
            </a:avLst>
          </a:prstGeom>
          <a:solidFill>
            <a:srgbClr val="3F465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869" y="4996656"/>
            <a:ext cx="152595" cy="1525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9426" y="4869458"/>
            <a:ext cx="127175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 Optimization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7773" y="5432921"/>
            <a:ext cx="406886" cy="610394"/>
          </a:xfrm>
          <a:prstGeom prst="roundRect">
            <a:avLst>
              <a:gd name="adj" fmla="val 360084"/>
            </a:avLst>
          </a:prstGeom>
          <a:solidFill>
            <a:srgbClr val="3F465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869" y="5661819"/>
            <a:ext cx="152595" cy="1525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9426" y="5534620"/>
            <a:ext cx="141661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Blue-Green Deployment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00368" y="6166545"/>
            <a:ext cx="6981253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"Automating Azure Infrastructure with Terraform for Secure, Scalable, and Reliable Cloud Solutions"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2026-06-10T04:15:56Z</dcterms:created>
  <dcterms:modified xsi:type="dcterms:W3CDTF">2026-06-10T04:15:56Z</dcterms:modified>
</cp:coreProperties>
</file>